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6" r:id="rId6"/>
    <p:sldId id="267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4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4213-D90B-4389-92B0-F1F222848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5BEF5-CB6D-49A6-BA8D-DBDC05E5E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5821-D556-4F0C-A2FE-E6072E32E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64B61-203D-4E32-9043-B7BFC4C7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79DBD-5E18-429D-9FFC-EFF95C16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0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F8891-7659-42EF-A881-73C2E373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6B0CF-4585-4F88-9932-CA1124BDB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5F952-C9D8-49A2-9231-496ADCFD2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64F23-6FE0-4667-A9B3-C6D33490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6ABB4-91FF-4B72-8340-00BD6F5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1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2DC8-706B-4236-A2DA-6607EB37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7FD6D-EC29-495F-AF34-C8279E5E5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11D59-B05D-4BBD-B465-98A06E76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F509B-356F-4718-A639-3651AFA0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5EFFF-82CA-45C6-BA99-EA6D5AC6E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2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FD98-0449-45AF-9D16-EF55D8EA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C3A46-AAFB-4743-9180-8F350662E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C7B32-91F5-46DA-88FB-F6D0A4A47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ACBD7-E1FF-45AB-9B81-F6368302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C1CCE-8428-4698-9223-4ACD65B0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CEA51-B0BC-4D70-93AC-7F05B7CD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83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EBE1-988B-464F-868A-0F1AAE4C7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D980B-1A9B-4BDB-BF90-B2333F559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DF5949-C42E-4BC4-ACB3-F772B5CB7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6BDDF-A9D9-4CC3-AFE6-9B8B05FEE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C2907-D43E-4790-BCD4-286A51C476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1E90B-C4A7-4432-86EF-FB949693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44714-121F-4380-8775-2988B4710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DEE4D-3288-4E6D-A621-CC47FDAA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0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E4127-6C0C-4850-8180-9B8729BD5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1245EF-AFDD-46BA-A280-6545DD3D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51AD2-082B-4828-B4D5-B6D8E5E2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20C55-E42F-40EF-8266-8D02A762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6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32A26-84E1-4D57-8FAF-77E39597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620364-F870-4345-A431-6F3B20E50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E586C-6EEE-4528-97E3-0D5C14D7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2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A3AF-E5C7-4835-9365-2D2798A6A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9984A-C4F4-455F-81C5-ACC65EB10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0B551-CA52-40B2-8712-DA8C945E4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A8132-7EF5-42AE-8A11-0F10FD224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46CF7-4AC1-4994-90B6-88A97D9C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ACD21-34E1-416A-A7C3-D040CEE4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5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3B356-F3D7-4BC4-80F5-460D8DDC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481DC4-0A84-4FAE-B8DA-E6E48FBB2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0B9ED-290F-4DC5-B3C4-4883E4A84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9012A-EF07-46FE-B8D7-8C05465B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4A0A1-7F6B-4C96-B5DD-077B425E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4F003-15FC-4874-8C40-ED7E0A76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9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11DF-1797-426D-9104-D8407682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FCB698-5C2E-43B8-AD59-B2B24710A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9AFC8-CDE1-4880-9D4B-096C8F20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7E30E-AD56-4E9C-9847-7E86BEAE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7A917-077F-4C3C-8CA2-DCE85E5CC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BC2D7-4CF4-4439-AA05-79004E88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9E5AD-49FF-4BC8-A225-652E87F51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65C5D-0DA7-457D-8F24-16661B64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D28C2-EE9E-43C2-9E6B-8C2DB946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7ABF0-1086-4E86-91CE-5DCE162E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91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EAD3B-FABC-4905-8915-A113D048B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BA55E-1E01-47A7-B049-790586C5A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90327-4D47-4D92-8035-20BDA5799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AB9C8-93DD-4E59-A8DD-651390B23317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E1F83-F980-4AC9-B2A4-F0DA49CD1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5B0A0-26D9-4AE9-ABFC-91280C36D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B5FC2-1166-418D-B081-AC9DB38B0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1707-FE7A-4C29-A4D6-567FC7DC2E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701EE-491B-4228-A107-1998A6DF18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Full Time Equivalent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95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939D-7850-49AC-98EF-3F773165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A754-3D51-4792-B87E-377262F2F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Budget FTE is the number of full-time equivalent students for which a college is budgeted to serve </a:t>
            </a:r>
          </a:p>
          <a:p>
            <a:r>
              <a:rPr lang="en-US" dirty="0"/>
              <a:t>How colleges get funds from the state</a:t>
            </a:r>
          </a:p>
          <a:p>
            <a:r>
              <a:rPr lang="en-US" dirty="0"/>
              <a:t>512 contact hours equals 1 FTE</a:t>
            </a:r>
          </a:p>
          <a:p>
            <a:r>
              <a:rPr lang="en-US" dirty="0"/>
              <a:t>FTE is considered to be the contact hours a student would take in 1 calendar year (summer not included)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2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46C3-876D-4890-B8B0-69780097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FTE?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B8A28-FF4F-4158-8BB5-BE08602CF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2649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i="1" dirty="0"/>
              <a:t>Calculate Contact Hours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Contact Hours </a:t>
            </a:r>
            <a:r>
              <a:rPr lang="en-US" i="1" dirty="0">
                <a:solidFill>
                  <a:srgbClr val="C00000"/>
                </a:solidFill>
              </a:rPr>
              <a:t>x</a:t>
            </a:r>
            <a:r>
              <a:rPr lang="en-US" i="1" dirty="0"/>
              <a:t> # of students in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Calculate FTE(FTE Total)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Find Course Tier , Calculate Instruction and Support Dollars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Multiply Step 4 result by FTE (calculated in step 3)</a:t>
            </a:r>
          </a:p>
        </p:txBody>
      </p:sp>
    </p:spTree>
    <p:extLst>
      <p:ext uri="{BB962C8B-B14F-4D97-AF65-F5344CB8AC3E}">
        <p14:creationId xmlns:p14="http://schemas.microsoft.com/office/powerpoint/2010/main" val="205872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F1EC-2C2E-475B-A0C6-7DC0E19B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2793"/>
          </a:xfrm>
        </p:spPr>
        <p:txBody>
          <a:bodyPr>
            <a:normAutofit fontScale="90000"/>
          </a:bodyPr>
          <a:lstStyle/>
          <a:p>
            <a:r>
              <a:rPr lang="en-US" dirty="0"/>
              <a:t>Step #4 Calculate Instruction and Support Dollars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A936E0-6806-44B4-A2CC-ACF3D03D1557}"/>
              </a:ext>
            </a:extLst>
          </p:cNvPr>
          <p:cNvSpPr txBox="1">
            <a:spLocks/>
          </p:cNvSpPr>
          <p:nvPr/>
        </p:nvSpPr>
        <p:spPr>
          <a:xfrm>
            <a:off x="720917" y="1071521"/>
            <a:ext cx="9834439" cy="10471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1"/>
                </a:solidFill>
              </a:rPr>
              <a:t>Still working on </a:t>
            </a:r>
            <a:r>
              <a:rPr lang="en-US" sz="2000" i="1" dirty="0">
                <a:solidFill>
                  <a:schemeClr val="accent1"/>
                </a:solidFill>
              </a:rPr>
              <a:t>SAME</a:t>
            </a:r>
            <a:r>
              <a:rPr lang="en-US" sz="2000" dirty="0">
                <a:solidFill>
                  <a:schemeClr val="accent1"/>
                </a:solidFill>
              </a:rPr>
              <a:t> 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Course: </a:t>
            </a:r>
            <a:r>
              <a:rPr lang="en-US" sz="2000" b="1" dirty="0"/>
              <a:t>CTI-110-0001 </a:t>
            </a:r>
          </a:p>
          <a:p>
            <a:pPr lvl="1"/>
            <a:r>
              <a:rPr lang="en-US" sz="2000" dirty="0"/>
              <a:t>Student Enrolled in section : </a:t>
            </a:r>
            <a:r>
              <a:rPr lang="en-US" sz="2000" b="1" dirty="0"/>
              <a:t>24   . </a:t>
            </a:r>
            <a:r>
              <a:rPr lang="en-US" sz="2000" dirty="0"/>
              <a:t>Assuming FTE under </a:t>
            </a:r>
            <a:r>
              <a:rPr lang="en-US" sz="2000" b="1" dirty="0"/>
              <a:t>“Total FTE” </a:t>
            </a:r>
            <a:r>
              <a:rPr lang="en-US" sz="2000" dirty="0"/>
              <a:t>column is </a:t>
            </a:r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6D4C81-CC5C-467E-8936-EB688C5A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53" y="2144864"/>
            <a:ext cx="10515600" cy="42507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Find course Tier </a:t>
            </a:r>
            <a:br>
              <a:rPr lang="en-US" dirty="0"/>
            </a:br>
            <a:r>
              <a:rPr lang="en-US" dirty="0"/>
              <a:t>     </a:t>
            </a:r>
            <a:br>
              <a:rPr lang="en-US" dirty="0"/>
            </a:br>
            <a:r>
              <a:rPr lang="en-US" dirty="0"/>
              <a:t>      The  </a:t>
            </a:r>
            <a:r>
              <a:rPr lang="en-US" b="1" dirty="0"/>
              <a:t>FTE_Tier.xlsx </a:t>
            </a:r>
            <a:r>
              <a:rPr lang="en-US" dirty="0"/>
              <a:t>file reference the tiers. </a:t>
            </a:r>
            <a:br>
              <a:rPr lang="en-US" dirty="0"/>
            </a:br>
            <a:r>
              <a:rPr lang="en-US" dirty="0"/>
              <a:t>       Find the tier using the course prefix. See below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   for example from the above </a:t>
            </a:r>
            <a:r>
              <a:rPr lang="en-US" b="1" i="1" dirty="0"/>
              <a:t>CTI</a:t>
            </a:r>
            <a:r>
              <a:rPr lang="en-US" dirty="0"/>
              <a:t> courses are </a:t>
            </a:r>
            <a:r>
              <a:rPr lang="en-US" b="1" dirty="0"/>
              <a:t>Tier 1B</a:t>
            </a:r>
            <a:br>
              <a:rPr lang="en-US" b="1" dirty="0"/>
            </a:b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170F6C-4D42-4E8D-AF97-ECD61C5A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893" y="3872120"/>
            <a:ext cx="6848475" cy="1181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A967B9-4332-4C80-B32B-4BCCE9D3CB7D}"/>
              </a:ext>
            </a:extLst>
          </p:cNvPr>
          <p:cNvSpPr/>
          <p:nvPr/>
        </p:nvSpPr>
        <p:spPr>
          <a:xfrm>
            <a:off x="1042947" y="4591878"/>
            <a:ext cx="7325801" cy="2683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1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F1EC-2C2E-475B-A0C6-7DC0E19B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2793"/>
          </a:xfrm>
        </p:spPr>
        <p:txBody>
          <a:bodyPr>
            <a:normAutofit fontScale="90000"/>
          </a:bodyPr>
          <a:lstStyle/>
          <a:p>
            <a:r>
              <a:rPr lang="en-US" dirty="0"/>
              <a:t>Step #4 Calculate Instruction and Support Dollars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A936E0-6806-44B4-A2CC-ACF3D03D1557}"/>
              </a:ext>
            </a:extLst>
          </p:cNvPr>
          <p:cNvSpPr txBox="1">
            <a:spLocks/>
          </p:cNvSpPr>
          <p:nvPr/>
        </p:nvSpPr>
        <p:spPr>
          <a:xfrm>
            <a:off x="720917" y="1071521"/>
            <a:ext cx="9834439" cy="10471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1"/>
                </a:solidFill>
              </a:rPr>
              <a:t>Still working on </a:t>
            </a:r>
            <a:r>
              <a:rPr lang="en-US" sz="2000" i="1" dirty="0">
                <a:solidFill>
                  <a:schemeClr val="accent1"/>
                </a:solidFill>
              </a:rPr>
              <a:t>SAME</a:t>
            </a:r>
            <a:r>
              <a:rPr lang="en-US" sz="2000" dirty="0">
                <a:solidFill>
                  <a:schemeClr val="accent1"/>
                </a:solidFill>
              </a:rPr>
              <a:t> 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Course: </a:t>
            </a:r>
            <a:r>
              <a:rPr lang="en-US" sz="2000" b="1" dirty="0"/>
              <a:t>CTI-110-0001 </a:t>
            </a:r>
          </a:p>
          <a:p>
            <a:pPr lvl="1"/>
            <a:r>
              <a:rPr lang="en-US" sz="2000" dirty="0"/>
              <a:t>Student Enrolled in section : </a:t>
            </a:r>
            <a:r>
              <a:rPr lang="en-US" sz="2000" b="1" dirty="0"/>
              <a:t>24   . </a:t>
            </a:r>
            <a:r>
              <a:rPr lang="en-US" sz="2000" dirty="0"/>
              <a:t>Assuming FTE under </a:t>
            </a:r>
            <a:r>
              <a:rPr lang="en-US" sz="2000" b="1" dirty="0"/>
              <a:t>“Total FTE” </a:t>
            </a:r>
            <a:r>
              <a:rPr lang="en-US" sz="2000" dirty="0"/>
              <a:t>column is </a:t>
            </a:r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6D4C81-CC5C-467E-8936-EB688C5A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53" y="2144864"/>
            <a:ext cx="10515600" cy="4250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Next</a:t>
            </a:r>
            <a:br>
              <a:rPr lang="en-US" b="1" dirty="0"/>
            </a:br>
            <a:endParaRPr lang="en-US" b="1" dirty="0"/>
          </a:p>
          <a:p>
            <a:pPr marL="0" indent="0">
              <a:buNone/>
            </a:pPr>
            <a:r>
              <a:rPr lang="en-US" dirty="0"/>
              <a:t>2. Find proposed funding level for tier (use the amount posted under </a:t>
            </a:r>
            <a:r>
              <a:rPr lang="en-US" b="1" dirty="0"/>
              <a:t>“New Sector” </a:t>
            </a:r>
            <a:r>
              <a:rPr lang="en-US" dirty="0"/>
              <a:t>column)</a:t>
            </a:r>
          </a:p>
          <a:p>
            <a:pPr lvl="1"/>
            <a:r>
              <a:rPr lang="en-US" dirty="0"/>
              <a:t>CTI courses fall under “</a:t>
            </a:r>
            <a:r>
              <a:rPr lang="en-US" b="1" dirty="0"/>
              <a:t>Information Technology</a:t>
            </a:r>
            <a:r>
              <a:rPr lang="en-US" dirty="0"/>
              <a:t>” sector</a:t>
            </a:r>
          </a:p>
          <a:p>
            <a:pPr lvl="1"/>
            <a:r>
              <a:rPr lang="en-US" dirty="0"/>
              <a:t>FTE Value for “Information Technology” is </a:t>
            </a:r>
            <a:r>
              <a:rPr lang="en-US" b="1" dirty="0">
                <a:solidFill>
                  <a:srgbClr val="C00000"/>
                </a:solidFill>
              </a:rPr>
              <a:t>4,800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4DCF1-C46B-4AB7-88ED-BEBAC5A38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15" y="4905790"/>
            <a:ext cx="6848475" cy="11811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1A478F-B7AB-43B2-92DC-1727AEAC08ED}"/>
              </a:ext>
            </a:extLst>
          </p:cNvPr>
          <p:cNvSpPr/>
          <p:nvPr/>
        </p:nvSpPr>
        <p:spPr>
          <a:xfrm>
            <a:off x="6549887" y="5652300"/>
            <a:ext cx="1103243" cy="2683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0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F1EC-2C2E-475B-A0C6-7DC0E19B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2793"/>
          </a:xfrm>
        </p:spPr>
        <p:txBody>
          <a:bodyPr>
            <a:normAutofit fontScale="90000"/>
          </a:bodyPr>
          <a:lstStyle/>
          <a:p>
            <a:r>
              <a:rPr lang="en-US" dirty="0"/>
              <a:t>Step #4 Calculate Instruction and Support Dollars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A936E0-6806-44B4-A2CC-ACF3D03D1557}"/>
              </a:ext>
            </a:extLst>
          </p:cNvPr>
          <p:cNvSpPr txBox="1">
            <a:spLocks/>
          </p:cNvSpPr>
          <p:nvPr/>
        </p:nvSpPr>
        <p:spPr>
          <a:xfrm>
            <a:off x="720917" y="1071521"/>
            <a:ext cx="9834439" cy="10471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1"/>
                </a:solidFill>
              </a:rPr>
              <a:t>Still working on </a:t>
            </a:r>
            <a:r>
              <a:rPr lang="en-US" sz="2000" i="1" dirty="0">
                <a:solidFill>
                  <a:schemeClr val="accent1"/>
                </a:solidFill>
              </a:rPr>
              <a:t>SAME</a:t>
            </a:r>
            <a:r>
              <a:rPr lang="en-US" sz="2000" dirty="0">
                <a:solidFill>
                  <a:schemeClr val="accent1"/>
                </a:solidFill>
              </a:rPr>
              <a:t> 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Course: </a:t>
            </a:r>
            <a:r>
              <a:rPr lang="en-US" sz="2000" b="1" dirty="0"/>
              <a:t>CTI-110-0001 </a:t>
            </a:r>
          </a:p>
          <a:p>
            <a:pPr lvl="1"/>
            <a:r>
              <a:rPr lang="en-US" sz="2000" dirty="0"/>
              <a:t>Student Enrolled in section : </a:t>
            </a:r>
            <a:r>
              <a:rPr lang="en-US" sz="2000" b="1" dirty="0"/>
              <a:t>24   . </a:t>
            </a:r>
            <a:r>
              <a:rPr lang="en-US" sz="2000" dirty="0"/>
              <a:t>Assuming FTE under </a:t>
            </a:r>
            <a:r>
              <a:rPr lang="en-US" sz="2000" b="1" dirty="0"/>
              <a:t>“Total FTE” </a:t>
            </a:r>
            <a:r>
              <a:rPr lang="en-US" sz="2000" dirty="0"/>
              <a:t>column is </a:t>
            </a:r>
            <a:r>
              <a:rPr lang="en-US" sz="20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6D4C81-CC5C-467E-8936-EB688C5A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53" y="2144864"/>
            <a:ext cx="10515600" cy="2297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Next</a:t>
            </a:r>
            <a:br>
              <a:rPr lang="en-US" b="1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3. Institutional and Academic Support for ALL courses is $</a:t>
            </a:r>
            <a:r>
              <a:rPr lang="en-US" b="1" dirty="0">
                <a:solidFill>
                  <a:srgbClr val="C00000"/>
                </a:solidFill>
              </a:rPr>
              <a:t>1,926</a:t>
            </a:r>
          </a:p>
          <a:p>
            <a:pPr marL="0" indent="0">
              <a:buNone/>
            </a:pPr>
            <a:r>
              <a:rPr lang="en-US" dirty="0"/>
              <a:t>4. Add the $</a:t>
            </a:r>
            <a:r>
              <a:rPr lang="en-US" b="1" dirty="0">
                <a:solidFill>
                  <a:srgbClr val="C00000"/>
                </a:solidFill>
              </a:rPr>
              <a:t>1,926 </a:t>
            </a:r>
            <a:r>
              <a:rPr lang="en-US" dirty="0"/>
              <a:t>to the course FTE value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64D3D5-5EDB-4B67-B638-64CE8E1EFBE8}"/>
              </a:ext>
            </a:extLst>
          </p:cNvPr>
          <p:cNvSpPr txBox="1"/>
          <p:nvPr/>
        </p:nvSpPr>
        <p:spPr>
          <a:xfrm>
            <a:off x="2804159" y="4469007"/>
            <a:ext cx="626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4800 + 1926 = </a:t>
            </a:r>
            <a:r>
              <a:rPr lang="en-US" sz="2800" b="1" dirty="0">
                <a:solidFill>
                  <a:srgbClr val="C00000"/>
                </a:solidFill>
              </a:rPr>
              <a:t>6,726</a:t>
            </a:r>
          </a:p>
        </p:txBody>
      </p:sp>
    </p:spTree>
    <p:extLst>
      <p:ext uri="{BB962C8B-B14F-4D97-AF65-F5344CB8AC3E}">
        <p14:creationId xmlns:p14="http://schemas.microsoft.com/office/powerpoint/2010/main" val="376943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F1EC-2C2E-475B-A0C6-7DC0E19B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12793"/>
          </a:xfrm>
        </p:spPr>
        <p:txBody>
          <a:bodyPr>
            <a:normAutofit fontScale="90000"/>
          </a:bodyPr>
          <a:lstStyle/>
          <a:p>
            <a:r>
              <a:rPr lang="en-US" dirty="0"/>
              <a:t>Step #5 Calculate Course FTE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73EB1-DEC5-48B6-9ACD-43D19FA04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810" y="2847914"/>
            <a:ext cx="10043160" cy="908399"/>
          </a:xfrm>
        </p:spPr>
        <p:txBody>
          <a:bodyPr>
            <a:normAutofit/>
          </a:bodyPr>
          <a:lstStyle/>
          <a:p>
            <a:r>
              <a:rPr lang="en-US" sz="2000" dirty="0"/>
              <a:t>Step3 results = </a:t>
            </a:r>
            <a:r>
              <a:rPr lang="en-US" sz="2000" b="1" dirty="0"/>
              <a:t>3FTE (</a:t>
            </a:r>
            <a:r>
              <a:rPr lang="en-US" sz="2000" dirty="0"/>
              <a:t>This is the number under the </a:t>
            </a:r>
            <a:r>
              <a:rPr lang="en-US" sz="2000" b="1" dirty="0"/>
              <a:t>“Total FTE”  </a:t>
            </a:r>
            <a:r>
              <a:rPr lang="en-US" sz="2000" dirty="0"/>
              <a:t>column</a:t>
            </a:r>
            <a:r>
              <a:rPr lang="en-US" sz="2000" b="1" dirty="0"/>
              <a:t>)</a:t>
            </a:r>
          </a:p>
          <a:p>
            <a:r>
              <a:rPr lang="en-US" sz="2000" dirty="0"/>
              <a:t>Step4 results = </a:t>
            </a:r>
            <a:r>
              <a:rPr lang="en-US" sz="2000" b="1" dirty="0"/>
              <a:t>$6726</a:t>
            </a:r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5FBFE-C69E-4153-BA93-CAD1D323EB08}"/>
              </a:ext>
            </a:extLst>
          </p:cNvPr>
          <p:cNvSpPr txBox="1"/>
          <p:nvPr/>
        </p:nvSpPr>
        <p:spPr>
          <a:xfrm>
            <a:off x="1585623" y="3779802"/>
            <a:ext cx="3331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 x 6726 =</a:t>
            </a:r>
            <a:r>
              <a:rPr lang="en-US" sz="3200" b="1" dirty="0">
                <a:solidFill>
                  <a:srgbClr val="C00000"/>
                </a:solidFill>
              </a:rPr>
              <a:t>20178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BA936E0-6806-44B4-A2CC-ACF3D03D1557}"/>
              </a:ext>
            </a:extLst>
          </p:cNvPr>
          <p:cNvSpPr txBox="1">
            <a:spLocks/>
          </p:cNvSpPr>
          <p:nvPr/>
        </p:nvSpPr>
        <p:spPr>
          <a:xfrm>
            <a:off x="5764033" y="1071521"/>
            <a:ext cx="5363817" cy="11681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1"/>
                </a:solidFill>
              </a:rPr>
              <a:t>Still working on </a:t>
            </a:r>
            <a:r>
              <a:rPr lang="en-US" sz="2000" i="1" dirty="0">
                <a:solidFill>
                  <a:schemeClr val="accent1"/>
                </a:solidFill>
              </a:rPr>
              <a:t>SAME</a:t>
            </a:r>
            <a:r>
              <a:rPr lang="en-US" sz="2000" dirty="0">
                <a:solidFill>
                  <a:schemeClr val="accent1"/>
                </a:solidFill>
              </a:rPr>
              <a:t> 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Course: </a:t>
            </a:r>
            <a:r>
              <a:rPr lang="en-US" sz="2000" b="1" dirty="0"/>
              <a:t>CTI-110-0001 </a:t>
            </a:r>
          </a:p>
          <a:p>
            <a:pPr lvl="1"/>
            <a:r>
              <a:rPr lang="en-US" sz="2000" dirty="0"/>
              <a:t>Student Enrolled in section : </a:t>
            </a:r>
            <a:r>
              <a:rPr lang="en-US" sz="2000" b="1" dirty="0"/>
              <a:t>24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0D312-53FC-4BB3-A201-2DC63FC0E99B}"/>
              </a:ext>
            </a:extLst>
          </p:cNvPr>
          <p:cNvSpPr txBox="1"/>
          <p:nvPr/>
        </p:nvSpPr>
        <p:spPr>
          <a:xfrm>
            <a:off x="838200" y="4957506"/>
            <a:ext cx="10701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 CTI-110 Course that has 24 students would generate </a:t>
            </a:r>
            <a:r>
              <a:rPr lang="en-US" sz="3200" b="1" dirty="0">
                <a:solidFill>
                  <a:srgbClr val="C00000"/>
                </a:solidFill>
              </a:rPr>
              <a:t>$20,178</a:t>
            </a:r>
          </a:p>
        </p:txBody>
      </p:sp>
    </p:spTree>
    <p:extLst>
      <p:ext uri="{BB962C8B-B14F-4D97-AF65-F5344CB8AC3E}">
        <p14:creationId xmlns:p14="http://schemas.microsoft.com/office/powerpoint/2010/main" val="3638729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F83A-F249-4A3B-9A99-6B33F26CD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27" y="139937"/>
            <a:ext cx="10515600" cy="1325563"/>
          </a:xfrm>
        </p:spPr>
        <p:txBody>
          <a:bodyPr/>
          <a:lstStyle/>
          <a:p>
            <a:r>
              <a:rPr lang="en-US" dirty="0"/>
              <a:t>Tier Funding(Where old pay comes from)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ADC5-8D0B-4B37-B411-A2AF5D6A8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24" y="2661607"/>
            <a:ext cx="1507435" cy="456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Tier 1A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461E90-0B29-4C8A-9159-E295AD81DE39}"/>
              </a:ext>
            </a:extLst>
          </p:cNvPr>
          <p:cNvSpPr txBox="1">
            <a:spLocks/>
          </p:cNvSpPr>
          <p:nvPr/>
        </p:nvSpPr>
        <p:spPr>
          <a:xfrm>
            <a:off x="191824" y="4304759"/>
            <a:ext cx="1507435" cy="4563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Tier 1B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EAE4F9-CFD6-4F7E-B12C-A36C5A1E6434}"/>
              </a:ext>
            </a:extLst>
          </p:cNvPr>
          <p:cNvSpPr txBox="1">
            <a:spLocks/>
          </p:cNvSpPr>
          <p:nvPr/>
        </p:nvSpPr>
        <p:spPr>
          <a:xfrm>
            <a:off x="5986668" y="2661607"/>
            <a:ext cx="1507435" cy="4563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8D71494-B155-40C6-9004-7DCE48B63D26}"/>
              </a:ext>
            </a:extLst>
          </p:cNvPr>
          <p:cNvSpPr txBox="1">
            <a:spLocks/>
          </p:cNvSpPr>
          <p:nvPr/>
        </p:nvSpPr>
        <p:spPr>
          <a:xfrm>
            <a:off x="6027421" y="4245123"/>
            <a:ext cx="1507435" cy="4563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Tier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26493-E0E7-45E1-9CD0-5F424F48C9B0}"/>
              </a:ext>
            </a:extLst>
          </p:cNvPr>
          <p:cNvSpPr txBox="1"/>
          <p:nvPr/>
        </p:nvSpPr>
        <p:spPr>
          <a:xfrm>
            <a:off x="334621" y="3096104"/>
            <a:ext cx="3542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 </a:t>
            </a:r>
          </a:p>
          <a:p>
            <a:r>
              <a:rPr lang="en-US" dirty="0"/>
              <a:t>Institutional and Academic Support</a:t>
            </a:r>
          </a:p>
          <a:p>
            <a:r>
              <a:rPr lang="en-US" b="1" dirty="0"/>
              <a:t>Total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29EE2-AAF4-4C9A-93FB-A455D861F4F2}"/>
              </a:ext>
            </a:extLst>
          </p:cNvPr>
          <p:cNvSpPr txBox="1"/>
          <p:nvPr/>
        </p:nvSpPr>
        <p:spPr>
          <a:xfrm>
            <a:off x="334621" y="4697547"/>
            <a:ext cx="3542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 </a:t>
            </a:r>
          </a:p>
          <a:p>
            <a:r>
              <a:rPr lang="en-US" dirty="0"/>
              <a:t>Institutional and Academic Support</a:t>
            </a:r>
          </a:p>
          <a:p>
            <a:r>
              <a:rPr lang="en-US" b="1" dirty="0"/>
              <a:t>Total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496443-FF7F-456C-9855-C51B69801CA2}"/>
              </a:ext>
            </a:extLst>
          </p:cNvPr>
          <p:cNvSpPr txBox="1"/>
          <p:nvPr/>
        </p:nvSpPr>
        <p:spPr>
          <a:xfrm>
            <a:off x="6151991" y="3109126"/>
            <a:ext cx="3542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 </a:t>
            </a:r>
          </a:p>
          <a:p>
            <a:r>
              <a:rPr lang="en-US" dirty="0"/>
              <a:t>Institutional and Academic Support</a:t>
            </a:r>
          </a:p>
          <a:p>
            <a:r>
              <a:rPr lang="en-US" b="1" dirty="0"/>
              <a:t>Total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0528C-F627-48AB-9F08-F08F4191B146}"/>
              </a:ext>
            </a:extLst>
          </p:cNvPr>
          <p:cNvSpPr txBox="1"/>
          <p:nvPr/>
        </p:nvSpPr>
        <p:spPr>
          <a:xfrm>
            <a:off x="6194732" y="4645864"/>
            <a:ext cx="35429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 </a:t>
            </a:r>
          </a:p>
          <a:p>
            <a:r>
              <a:rPr lang="en-US" dirty="0"/>
              <a:t>Institutional and Academic Support</a:t>
            </a:r>
          </a:p>
          <a:p>
            <a:r>
              <a:rPr lang="en-US" b="1" dirty="0"/>
              <a:t>Total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025C24-D441-4BCC-A4E1-3ED536A31117}"/>
              </a:ext>
            </a:extLst>
          </p:cNvPr>
          <p:cNvCxnSpPr>
            <a:cxnSpLocks/>
          </p:cNvCxnSpPr>
          <p:nvPr/>
        </p:nvCxnSpPr>
        <p:spPr>
          <a:xfrm>
            <a:off x="5355203" y="2441050"/>
            <a:ext cx="55660" cy="36496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FADC714-984B-4639-A7B2-BB1AD4E66D5E}"/>
              </a:ext>
            </a:extLst>
          </p:cNvPr>
          <p:cNvSpPr txBox="1"/>
          <p:nvPr/>
        </p:nvSpPr>
        <p:spPr>
          <a:xfrm>
            <a:off x="1097940" y="1352271"/>
            <a:ext cx="766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finding course Tier , see below for </a:t>
            </a:r>
            <a:r>
              <a:rPr lang="en-US" b="1" dirty="0"/>
              <a:t>instruction</a:t>
            </a:r>
            <a:r>
              <a:rPr lang="en-US" dirty="0"/>
              <a:t> pay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B177DC-85A8-4C3F-8358-FFFB1E408CA1}"/>
              </a:ext>
            </a:extLst>
          </p:cNvPr>
          <p:cNvSpPr txBox="1"/>
          <p:nvPr/>
        </p:nvSpPr>
        <p:spPr>
          <a:xfrm>
            <a:off x="553277" y="6332126"/>
            <a:ext cx="7669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Notice “</a:t>
            </a:r>
            <a:r>
              <a:rPr lang="en-US" b="1" dirty="0"/>
              <a:t>Institutional and Academic Support</a:t>
            </a:r>
            <a:r>
              <a:rPr lang="en-US" dirty="0"/>
              <a:t>” is the </a:t>
            </a:r>
            <a:r>
              <a:rPr lang="en-US" b="1" dirty="0"/>
              <a:t>SAME</a:t>
            </a:r>
            <a:r>
              <a:rPr lang="en-US" dirty="0"/>
              <a:t> for all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08D0A6E-0BF3-48F8-8871-D0C6CE5A70BB}"/>
              </a:ext>
            </a:extLst>
          </p:cNvPr>
          <p:cNvGrpSpPr/>
          <p:nvPr/>
        </p:nvGrpSpPr>
        <p:grpSpPr>
          <a:xfrm>
            <a:off x="4063283" y="3128565"/>
            <a:ext cx="1355697" cy="830997"/>
            <a:chOff x="4108173" y="3115752"/>
            <a:chExt cx="1355697" cy="83099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5EB5E5-0CFD-4D34-A85E-CC3B5D7AB71C}"/>
                </a:ext>
              </a:extLst>
            </p:cNvPr>
            <p:cNvSpPr txBox="1"/>
            <p:nvPr/>
          </p:nvSpPr>
          <p:spPr>
            <a:xfrm>
              <a:off x="4108173" y="3115752"/>
              <a:ext cx="13556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$  5,085.54</a:t>
              </a:r>
            </a:p>
            <a:p>
              <a:r>
                <a:rPr lang="en-US" sz="1600" dirty="0"/>
                <a:t>     1,926.00</a:t>
              </a:r>
            </a:p>
            <a:p>
              <a:r>
                <a:rPr lang="en-US" sz="1600" b="1" dirty="0"/>
                <a:t>$  7,011.54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C55681-E481-4ACF-806F-EF765F836DFA}"/>
                </a:ext>
              </a:extLst>
            </p:cNvPr>
            <p:cNvCxnSpPr/>
            <p:nvPr/>
          </p:nvCxnSpPr>
          <p:spPr>
            <a:xfrm>
              <a:off x="4166483" y="3673065"/>
              <a:ext cx="103764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46628D-E36D-4113-BC6F-FC58375D3B49}"/>
              </a:ext>
            </a:extLst>
          </p:cNvPr>
          <p:cNvGrpSpPr/>
          <p:nvPr/>
        </p:nvGrpSpPr>
        <p:grpSpPr>
          <a:xfrm>
            <a:off x="10258509" y="3118006"/>
            <a:ext cx="1355697" cy="830997"/>
            <a:chOff x="10258509" y="3118006"/>
            <a:chExt cx="1355697" cy="83099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A45C3EA-8A80-4026-BE34-A98953763681}"/>
                </a:ext>
              </a:extLst>
            </p:cNvPr>
            <p:cNvSpPr txBox="1"/>
            <p:nvPr/>
          </p:nvSpPr>
          <p:spPr>
            <a:xfrm>
              <a:off x="10258509" y="3118006"/>
              <a:ext cx="13556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$  3,911.95</a:t>
              </a:r>
            </a:p>
            <a:p>
              <a:r>
                <a:rPr lang="en-US" sz="1600" dirty="0"/>
                <a:t>     1,926.00</a:t>
              </a:r>
            </a:p>
            <a:p>
              <a:r>
                <a:rPr lang="en-US" sz="1600" b="1" dirty="0"/>
                <a:t>$  5,837.95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426EF3A-32F1-45B7-AB5E-0076751B6F19}"/>
                </a:ext>
              </a:extLst>
            </p:cNvPr>
            <p:cNvCxnSpPr>
              <a:cxnSpLocks/>
            </p:cNvCxnSpPr>
            <p:nvPr/>
          </p:nvCxnSpPr>
          <p:spPr>
            <a:xfrm>
              <a:off x="10258509" y="3654070"/>
              <a:ext cx="113968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41F8CDB-3D53-4586-BA8D-F5C77767FBC9}"/>
              </a:ext>
            </a:extLst>
          </p:cNvPr>
          <p:cNvGrpSpPr/>
          <p:nvPr/>
        </p:nvGrpSpPr>
        <p:grpSpPr>
          <a:xfrm>
            <a:off x="10335371" y="4692030"/>
            <a:ext cx="1406055" cy="830997"/>
            <a:chOff x="10335371" y="4692030"/>
            <a:chExt cx="1406055" cy="83099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6507665-9BAF-4F3D-A4AC-F9C9ECAF30A0}"/>
                </a:ext>
              </a:extLst>
            </p:cNvPr>
            <p:cNvSpPr txBox="1"/>
            <p:nvPr/>
          </p:nvSpPr>
          <p:spPr>
            <a:xfrm>
              <a:off x="10385729" y="4692030"/>
              <a:ext cx="13556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$  2,476.26</a:t>
              </a:r>
            </a:p>
            <a:p>
              <a:r>
                <a:rPr lang="en-US" sz="1600" dirty="0"/>
                <a:t>     1,926.00</a:t>
              </a:r>
            </a:p>
            <a:p>
              <a:r>
                <a:rPr lang="en-US" sz="1600" b="1" dirty="0"/>
                <a:t>$  4,402.26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B7E8CB6-5796-4B4D-BACA-0F0DD4DA3012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371" y="5225778"/>
              <a:ext cx="113968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AB011A-0B85-46D3-8D6A-8678E9C6C966}"/>
              </a:ext>
            </a:extLst>
          </p:cNvPr>
          <p:cNvGrpSpPr/>
          <p:nvPr/>
        </p:nvGrpSpPr>
        <p:grpSpPr>
          <a:xfrm>
            <a:off x="4108173" y="4743713"/>
            <a:ext cx="1355697" cy="830997"/>
            <a:chOff x="4108173" y="4743713"/>
            <a:chExt cx="1355697" cy="83099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59047D-5B1A-4819-A273-D83CD6DA026F}"/>
                </a:ext>
              </a:extLst>
            </p:cNvPr>
            <p:cNvSpPr txBox="1"/>
            <p:nvPr/>
          </p:nvSpPr>
          <p:spPr>
            <a:xfrm>
              <a:off x="4108173" y="4743713"/>
              <a:ext cx="13556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$  4,498.74</a:t>
              </a:r>
            </a:p>
            <a:p>
              <a:r>
                <a:rPr lang="en-US" sz="1600" dirty="0"/>
                <a:t>     1,926.00</a:t>
              </a:r>
            </a:p>
            <a:p>
              <a:r>
                <a:rPr lang="en-US" sz="1600" b="1" dirty="0"/>
                <a:t>$  6,424.74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1F13286-008A-46D2-ACB6-8F3AD5E17676}"/>
                </a:ext>
              </a:extLst>
            </p:cNvPr>
            <p:cNvCxnSpPr>
              <a:cxnSpLocks/>
            </p:cNvCxnSpPr>
            <p:nvPr/>
          </p:nvCxnSpPr>
          <p:spPr>
            <a:xfrm>
              <a:off x="4121593" y="5273486"/>
              <a:ext cx="113968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1501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C4F51-75F0-4515-A9C0-6E946BA7E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Funding Level for </a:t>
            </a:r>
            <a:r>
              <a:rPr lang="en-US" b="1" dirty="0"/>
              <a:t>New Sectors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0238C9-18C3-467D-A77D-F10015EBD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922375"/>
              </p:ext>
            </p:extLst>
          </p:nvPr>
        </p:nvGraphicFramePr>
        <p:xfrm>
          <a:off x="930302" y="2393416"/>
          <a:ext cx="5402912" cy="41440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92449">
                  <a:extLst>
                    <a:ext uri="{9D8B030D-6E8A-4147-A177-3AD203B41FA5}">
                      <a16:colId xmlns:a16="http://schemas.microsoft.com/office/drawing/2014/main" val="972723831"/>
                    </a:ext>
                  </a:extLst>
                </a:gridCol>
                <a:gridCol w="2210463">
                  <a:extLst>
                    <a:ext uri="{9D8B030D-6E8A-4147-A177-3AD203B41FA5}">
                      <a16:colId xmlns:a16="http://schemas.microsoft.com/office/drawing/2014/main" val="550804796"/>
                    </a:ext>
                  </a:extLst>
                </a:gridCol>
              </a:tblGrid>
              <a:tr h="444767">
                <a:tc>
                  <a:txBody>
                    <a:bodyPr/>
                    <a:lstStyle/>
                    <a:p>
                      <a:r>
                        <a:rPr lang="en-US" dirty="0"/>
                        <a:t>Workforce Sectors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FTE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75902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r>
                        <a:rPr lang="en-US" dirty="0"/>
                        <a:t>Healthcare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957480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r>
                        <a:rPr lang="en-US" dirty="0"/>
                        <a:t>Engineering and Adv. 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576142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r>
                        <a:rPr lang="en-US" dirty="0"/>
                        <a:t>Trades and 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883768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r>
                        <a:rPr lang="en-US" dirty="0"/>
                        <a:t>Information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300996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r>
                        <a:rPr lang="en-US" dirty="0"/>
                        <a:t>Public Safety and First Responders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820541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r>
                        <a:rPr lang="en-US" dirty="0"/>
                        <a:t>Healthcare II(</a:t>
                      </a:r>
                      <a:r>
                        <a:rPr lang="en-US" sz="1600" i="1" dirty="0"/>
                        <a:t>not Tier 1A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794247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r>
                        <a:rPr lang="en-US" dirty="0"/>
                        <a:t>Customized Training &amp; Small Business 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2,480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0740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4A8B86-5CCC-4859-A30C-0EEE8F84AB0B}"/>
              </a:ext>
            </a:extLst>
          </p:cNvPr>
          <p:cNvSpPr txBox="1"/>
          <p:nvPr/>
        </p:nvSpPr>
        <p:spPr>
          <a:xfrm>
            <a:off x="7261197" y="6031064"/>
            <a:ext cx="361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Tier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D674C-89D5-4ABA-8E0D-5BA7C202A9E3}"/>
              </a:ext>
            </a:extLst>
          </p:cNvPr>
          <p:cNvSpPr txBox="1"/>
          <p:nvPr/>
        </p:nvSpPr>
        <p:spPr>
          <a:xfrm>
            <a:off x="7004105" y="4771705"/>
            <a:ext cx="361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Tier 1B and some of Tier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D1DC7-90E4-420D-A10E-A84F16553245}"/>
              </a:ext>
            </a:extLst>
          </p:cNvPr>
          <p:cNvSpPr txBox="1"/>
          <p:nvPr/>
        </p:nvSpPr>
        <p:spPr>
          <a:xfrm>
            <a:off x="1018098" y="1672720"/>
            <a:ext cx="365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Below are NEW funding levels 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E7AB75B1-77B3-47E1-AAAD-5511691C97E2}"/>
              </a:ext>
            </a:extLst>
          </p:cNvPr>
          <p:cNvSpPr/>
          <p:nvPr/>
        </p:nvSpPr>
        <p:spPr>
          <a:xfrm>
            <a:off x="6096000" y="6070821"/>
            <a:ext cx="908105" cy="27432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854D19-7881-491D-9A34-7E1CF191C84D}"/>
              </a:ext>
            </a:extLst>
          </p:cNvPr>
          <p:cNvGrpSpPr/>
          <p:nvPr/>
        </p:nvGrpSpPr>
        <p:grpSpPr>
          <a:xfrm>
            <a:off x="6164583" y="4444585"/>
            <a:ext cx="808711" cy="1327309"/>
            <a:chOff x="6164583" y="4444585"/>
            <a:chExt cx="808711" cy="132730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E1EBDB-AC07-43AB-B128-70981256971C}"/>
                </a:ext>
              </a:extLst>
            </p:cNvPr>
            <p:cNvCxnSpPr>
              <a:cxnSpLocks/>
            </p:cNvCxnSpPr>
            <p:nvPr/>
          </p:nvCxnSpPr>
          <p:spPr>
            <a:xfrm>
              <a:off x="6973294" y="4496463"/>
              <a:ext cx="0" cy="122052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Arrow: Left 14">
              <a:extLst>
                <a:ext uri="{FF2B5EF4-FFF2-40B4-BE49-F238E27FC236}">
                  <a16:creationId xmlns:a16="http://schemas.microsoft.com/office/drawing/2014/main" id="{1506F9B0-9FD7-40E7-A859-A70B438BDF4D}"/>
                </a:ext>
              </a:extLst>
            </p:cNvPr>
            <p:cNvSpPr/>
            <p:nvPr/>
          </p:nvSpPr>
          <p:spPr>
            <a:xfrm>
              <a:off x="6171537" y="4444585"/>
              <a:ext cx="801757" cy="24649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row: Left 15">
              <a:extLst>
                <a:ext uri="{FF2B5EF4-FFF2-40B4-BE49-F238E27FC236}">
                  <a16:creationId xmlns:a16="http://schemas.microsoft.com/office/drawing/2014/main" id="{C3775941-89FD-4CA3-96BC-2BC4FA440862}"/>
                </a:ext>
              </a:extLst>
            </p:cNvPr>
            <p:cNvSpPr/>
            <p:nvPr/>
          </p:nvSpPr>
          <p:spPr>
            <a:xfrm>
              <a:off x="6164583" y="5525404"/>
              <a:ext cx="801757" cy="24649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9EA0739-993D-4995-BB4B-FD23004A6DB8}"/>
              </a:ext>
            </a:extLst>
          </p:cNvPr>
          <p:cNvSpPr txBox="1"/>
          <p:nvPr/>
        </p:nvSpPr>
        <p:spPr>
          <a:xfrm>
            <a:off x="7043203" y="3281986"/>
            <a:ext cx="361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Tier 1A and some of Tier 1B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E29CAC-2768-49C8-A9F3-CF3DDE7AA20C}"/>
              </a:ext>
            </a:extLst>
          </p:cNvPr>
          <p:cNvGrpSpPr/>
          <p:nvPr/>
        </p:nvGrpSpPr>
        <p:grpSpPr>
          <a:xfrm>
            <a:off x="6241446" y="2941023"/>
            <a:ext cx="808711" cy="1327309"/>
            <a:chOff x="6164583" y="4444585"/>
            <a:chExt cx="808711" cy="1327309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C89C963-15AD-4F0B-B4AD-440D71474FCD}"/>
                </a:ext>
              </a:extLst>
            </p:cNvPr>
            <p:cNvCxnSpPr>
              <a:cxnSpLocks/>
            </p:cNvCxnSpPr>
            <p:nvPr/>
          </p:nvCxnSpPr>
          <p:spPr>
            <a:xfrm>
              <a:off x="6973294" y="4496463"/>
              <a:ext cx="0" cy="1220525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Arrow: Left 20">
              <a:extLst>
                <a:ext uri="{FF2B5EF4-FFF2-40B4-BE49-F238E27FC236}">
                  <a16:creationId xmlns:a16="http://schemas.microsoft.com/office/drawing/2014/main" id="{EA453719-68FE-4A26-93B9-FD3F8DFFB5D5}"/>
                </a:ext>
              </a:extLst>
            </p:cNvPr>
            <p:cNvSpPr/>
            <p:nvPr/>
          </p:nvSpPr>
          <p:spPr>
            <a:xfrm>
              <a:off x="6171537" y="4444585"/>
              <a:ext cx="801757" cy="24649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Left 21">
              <a:extLst>
                <a:ext uri="{FF2B5EF4-FFF2-40B4-BE49-F238E27FC236}">
                  <a16:creationId xmlns:a16="http://schemas.microsoft.com/office/drawing/2014/main" id="{7222B252-A9B7-4E2E-AD94-3820FEF9BA5E}"/>
                </a:ext>
              </a:extLst>
            </p:cNvPr>
            <p:cNvSpPr/>
            <p:nvPr/>
          </p:nvSpPr>
          <p:spPr>
            <a:xfrm>
              <a:off x="6164583" y="5525404"/>
              <a:ext cx="801757" cy="24649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329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7041</TotalTime>
  <Words>545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FTE</vt:lpstr>
      <vt:lpstr>FTE Definition</vt:lpstr>
      <vt:lpstr>How to Calculate FTE?</vt:lpstr>
      <vt:lpstr>Step #4 Calculate Instruction and Support Dollars  </vt:lpstr>
      <vt:lpstr>Step #4 Calculate Instruction and Support Dollars  </vt:lpstr>
      <vt:lpstr>Step #4 Calculate Instruction and Support Dollars  </vt:lpstr>
      <vt:lpstr>Step #5 Calculate Course FTE  </vt:lpstr>
      <vt:lpstr>Tier Funding(Where old pay comes from)</vt:lpstr>
      <vt:lpstr>Proposed Funding Level for New Sectors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FTE</dc:title>
  <dc:creator>Anthony Cameron</dc:creator>
  <cp:lastModifiedBy>Hana Seidi</cp:lastModifiedBy>
  <cp:revision>29</cp:revision>
  <dcterms:created xsi:type="dcterms:W3CDTF">2022-12-08T20:44:34Z</dcterms:created>
  <dcterms:modified xsi:type="dcterms:W3CDTF">2025-02-28T05:08:22Z</dcterms:modified>
</cp:coreProperties>
</file>